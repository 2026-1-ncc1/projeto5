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28778200" cy="43180000"/>
  <p:notesSz cx="6858000" cy="9144000"/>
  <p:embeddedFontLst>
    <p:embeddedFont>
      <p:font typeface="Open Sans Bold" charset="1" panose="00000000000000000000"/>
      <p:regular r:id="rId10"/>
    </p:embeddedFont>
    <p:embeddedFont>
      <p:font typeface="Inter" charset="1" panose="02000503000000020004"/>
      <p:regular r:id="rId11"/>
    </p:embeddedFont>
    <p:embeddedFont>
      <p:font typeface="Open Sans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16.png" Type="http://schemas.openxmlformats.org/officeDocument/2006/relationships/image"/><Relationship Id="rId19" Target="../media/image17.sv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png" Type="http://schemas.openxmlformats.org/officeDocument/2006/relationships/image"/><Relationship Id="rId21" Target="../media/image19.svg" Type="http://schemas.openxmlformats.org/officeDocument/2006/relationships/image"/><Relationship Id="rId22" Target="../media/image20.png" Type="http://schemas.openxmlformats.org/officeDocument/2006/relationships/image"/><Relationship Id="rId23" Target="../media/image21.png" Type="http://schemas.openxmlformats.org/officeDocument/2006/relationships/image"/><Relationship Id="rId24" Target="../media/image22.png" Type="http://schemas.openxmlformats.org/officeDocument/2006/relationships/image"/><Relationship Id="rId25" Target="../media/image23.png" Type="http://schemas.openxmlformats.org/officeDocument/2006/relationships/image"/><Relationship Id="rId26" Target="../media/image24.svg" Type="http://schemas.openxmlformats.org/officeDocument/2006/relationships/image"/><Relationship Id="rId27" Target="../media/image25.png" Type="http://schemas.openxmlformats.org/officeDocument/2006/relationships/image"/><Relationship Id="rId28" Target="../media/image26.svg" Type="http://schemas.openxmlformats.org/officeDocument/2006/relationships/image"/><Relationship Id="rId29" Target="../media/image2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4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4725" y="36273038"/>
            <a:ext cx="29324846" cy="6968080"/>
          </a:xfrm>
          <a:custGeom>
            <a:avLst/>
            <a:gdLst/>
            <a:ahLst/>
            <a:cxnLst/>
            <a:rect r="r" b="b" t="t" l="l"/>
            <a:pathLst>
              <a:path h="6968080" w="29324846">
                <a:moveTo>
                  <a:pt x="0" y="0"/>
                </a:moveTo>
                <a:lnTo>
                  <a:pt x="29324847" y="0"/>
                </a:lnTo>
                <a:lnTo>
                  <a:pt x="29324847" y="6968081"/>
                </a:lnTo>
                <a:lnTo>
                  <a:pt x="0" y="6968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63233" y="34829696"/>
            <a:ext cx="22769151" cy="14311008"/>
            <a:chOff x="0" y="0"/>
            <a:chExt cx="30358867" cy="190813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58842" cy="19081369"/>
            </a:xfrm>
            <a:custGeom>
              <a:avLst/>
              <a:gdLst/>
              <a:ahLst/>
              <a:cxnLst/>
              <a:rect r="r" b="b" t="t" l="l"/>
              <a:pathLst>
                <a:path h="19081369" w="30358842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538" r="0" b="-2453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34725" y="28800362"/>
            <a:ext cx="29304072" cy="9759744"/>
          </a:xfrm>
          <a:custGeom>
            <a:avLst/>
            <a:gdLst/>
            <a:ahLst/>
            <a:cxnLst/>
            <a:rect r="r" b="b" t="t" l="l"/>
            <a:pathLst>
              <a:path h="9759744" w="29304072">
                <a:moveTo>
                  <a:pt x="0" y="0"/>
                </a:moveTo>
                <a:lnTo>
                  <a:pt x="29304073" y="0"/>
                </a:lnTo>
                <a:lnTo>
                  <a:pt x="29304073" y="9759743"/>
                </a:lnTo>
                <a:lnTo>
                  <a:pt x="0" y="9759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4715" y="21010293"/>
            <a:ext cx="29324846" cy="9460535"/>
          </a:xfrm>
          <a:custGeom>
            <a:avLst/>
            <a:gdLst/>
            <a:ahLst/>
            <a:cxnLst/>
            <a:rect r="r" b="b" t="t" l="l"/>
            <a:pathLst>
              <a:path h="9460535" w="29324846">
                <a:moveTo>
                  <a:pt x="0" y="0"/>
                </a:moveTo>
                <a:lnTo>
                  <a:pt x="29324846" y="0"/>
                </a:lnTo>
                <a:lnTo>
                  <a:pt x="29324846" y="9460534"/>
                </a:lnTo>
                <a:lnTo>
                  <a:pt x="0" y="9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4725" y="15561374"/>
            <a:ext cx="29304072" cy="8372961"/>
          </a:xfrm>
          <a:custGeom>
            <a:avLst/>
            <a:gdLst/>
            <a:ahLst/>
            <a:cxnLst/>
            <a:rect r="r" b="b" t="t" l="l"/>
            <a:pathLst>
              <a:path h="8372961" w="29304072">
                <a:moveTo>
                  <a:pt x="0" y="0"/>
                </a:moveTo>
                <a:lnTo>
                  <a:pt x="29304073" y="0"/>
                </a:lnTo>
                <a:lnTo>
                  <a:pt x="29304073" y="8372960"/>
                </a:lnTo>
                <a:lnTo>
                  <a:pt x="0" y="8372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34715" y="6816147"/>
            <a:ext cx="29304072" cy="9226115"/>
          </a:xfrm>
          <a:custGeom>
            <a:avLst/>
            <a:gdLst/>
            <a:ahLst/>
            <a:cxnLst/>
            <a:rect r="r" b="b" t="t" l="l"/>
            <a:pathLst>
              <a:path h="9226115" w="29304072">
                <a:moveTo>
                  <a:pt x="0" y="0"/>
                </a:moveTo>
                <a:lnTo>
                  <a:pt x="29304072" y="0"/>
                </a:lnTo>
                <a:lnTo>
                  <a:pt x="29304072" y="9226115"/>
                </a:lnTo>
                <a:lnTo>
                  <a:pt x="0" y="92261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34715" y="-573881"/>
            <a:ext cx="29324837" cy="9050017"/>
          </a:xfrm>
          <a:custGeom>
            <a:avLst/>
            <a:gdLst/>
            <a:ahLst/>
            <a:cxnLst/>
            <a:rect r="r" b="b" t="t" l="l"/>
            <a:pathLst>
              <a:path h="9050017" w="29324837">
                <a:moveTo>
                  <a:pt x="0" y="0"/>
                </a:moveTo>
                <a:lnTo>
                  <a:pt x="29324837" y="0"/>
                </a:lnTo>
                <a:lnTo>
                  <a:pt x="29324837" y="9050017"/>
                </a:lnTo>
                <a:lnTo>
                  <a:pt x="0" y="905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99393" y="9368085"/>
            <a:ext cx="13135499" cy="20666859"/>
          </a:xfrm>
          <a:custGeom>
            <a:avLst/>
            <a:gdLst/>
            <a:ahLst/>
            <a:cxnLst/>
            <a:rect r="r" b="b" t="t" l="l"/>
            <a:pathLst>
              <a:path h="20666859" w="13135499">
                <a:moveTo>
                  <a:pt x="0" y="0"/>
                </a:moveTo>
                <a:lnTo>
                  <a:pt x="13135498" y="0"/>
                </a:lnTo>
                <a:lnTo>
                  <a:pt x="13135498" y="20666859"/>
                </a:lnTo>
                <a:lnTo>
                  <a:pt x="0" y="206668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5884" y="30011218"/>
            <a:ext cx="14051137" cy="9336281"/>
          </a:xfrm>
          <a:custGeom>
            <a:avLst/>
            <a:gdLst/>
            <a:ahLst/>
            <a:cxnLst/>
            <a:rect r="r" b="b" t="t" l="l"/>
            <a:pathLst>
              <a:path h="9336281" w="14051137">
                <a:moveTo>
                  <a:pt x="0" y="0"/>
                </a:moveTo>
                <a:lnTo>
                  <a:pt x="14051137" y="0"/>
                </a:lnTo>
                <a:lnTo>
                  <a:pt x="14051137" y="9336281"/>
                </a:lnTo>
                <a:lnTo>
                  <a:pt x="0" y="933628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313523" y="30138548"/>
            <a:ext cx="12706788" cy="8215579"/>
          </a:xfrm>
          <a:custGeom>
            <a:avLst/>
            <a:gdLst/>
            <a:ahLst/>
            <a:cxnLst/>
            <a:rect r="r" b="b" t="t" l="l"/>
            <a:pathLst>
              <a:path h="8215579" w="12706788">
                <a:moveTo>
                  <a:pt x="0" y="0"/>
                </a:moveTo>
                <a:lnTo>
                  <a:pt x="12706789" y="0"/>
                </a:lnTo>
                <a:lnTo>
                  <a:pt x="12706789" y="8215579"/>
                </a:lnTo>
                <a:lnTo>
                  <a:pt x="0" y="821557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924887" y="30913997"/>
            <a:ext cx="9484062" cy="6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1"/>
              </a:lnSpc>
            </a:pP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REFERÊNCIAS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916543" y="1525353"/>
            <a:ext cx="8571186" cy="2454221"/>
            <a:chOff x="0" y="0"/>
            <a:chExt cx="11428247" cy="32722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28222" cy="3272282"/>
            </a:xfrm>
            <a:custGeom>
              <a:avLst/>
              <a:gdLst/>
              <a:ahLst/>
              <a:cxnLst/>
              <a:rect r="r" b="b" t="t" l="l"/>
              <a:pathLst>
                <a:path h="3272282" w="11428222">
                  <a:moveTo>
                    <a:pt x="0" y="0"/>
                  </a:moveTo>
                  <a:lnTo>
                    <a:pt x="11428222" y="0"/>
                  </a:lnTo>
                  <a:lnTo>
                    <a:pt x="11428222" y="3272282"/>
                  </a:lnTo>
                  <a:lnTo>
                    <a:pt x="0" y="327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63233" y="-4997463"/>
            <a:ext cx="22769151" cy="14311008"/>
            <a:chOff x="0" y="0"/>
            <a:chExt cx="30358867" cy="190813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358842" cy="19081369"/>
            </a:xfrm>
            <a:custGeom>
              <a:avLst/>
              <a:gdLst/>
              <a:ahLst/>
              <a:cxnLst/>
              <a:rect r="r" b="b" t="t" l="l"/>
              <a:pathLst>
                <a:path h="19081369" w="30358842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4538" r="0" b="-2453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014303" y="1712014"/>
            <a:ext cx="7228389" cy="2335063"/>
            <a:chOff x="0" y="0"/>
            <a:chExt cx="9637852" cy="31134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37903" cy="3113405"/>
            </a:xfrm>
            <a:custGeom>
              <a:avLst/>
              <a:gdLst/>
              <a:ahLst/>
              <a:cxnLst/>
              <a:rect r="r" b="b" t="t" l="l"/>
              <a:pathLst>
                <a:path h="3113405" w="9637903">
                  <a:moveTo>
                    <a:pt x="0" y="0"/>
                  </a:moveTo>
                  <a:lnTo>
                    <a:pt x="9637903" y="0"/>
                  </a:lnTo>
                  <a:lnTo>
                    <a:pt x="9637903" y="3113405"/>
                  </a:lnTo>
                  <a:lnTo>
                    <a:pt x="0" y="3113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65" r="0" b="-16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617819" y="16303581"/>
            <a:ext cx="11399872" cy="6657908"/>
            <a:chOff x="0" y="0"/>
            <a:chExt cx="15199830" cy="88772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99868" cy="8877173"/>
            </a:xfrm>
            <a:custGeom>
              <a:avLst/>
              <a:gdLst/>
              <a:ahLst/>
              <a:cxnLst/>
              <a:rect r="r" b="b" t="t" l="l"/>
              <a:pathLst>
                <a:path h="8877173" w="15199868">
                  <a:moveTo>
                    <a:pt x="0" y="0"/>
                  </a:moveTo>
                  <a:lnTo>
                    <a:pt x="15199868" y="0"/>
                  </a:lnTo>
                  <a:lnTo>
                    <a:pt x="15199868" y="8877173"/>
                  </a:lnTo>
                  <a:lnTo>
                    <a:pt x="0" y="8877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9741" r="0" b="-5836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432060" y="12090349"/>
            <a:ext cx="4989814" cy="66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1"/>
              </a:lnSpc>
            </a:pPr>
            <a:r>
              <a:rPr lang="en-US" b="true" sz="507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20291" y="9450114"/>
            <a:ext cx="14456807" cy="10409558"/>
          </a:xfrm>
          <a:custGeom>
            <a:avLst/>
            <a:gdLst/>
            <a:ahLst/>
            <a:cxnLst/>
            <a:rect r="r" b="b" t="t" l="l"/>
            <a:pathLst>
              <a:path h="10409558" w="14456807">
                <a:moveTo>
                  <a:pt x="0" y="0"/>
                </a:moveTo>
                <a:lnTo>
                  <a:pt x="14456807" y="0"/>
                </a:lnTo>
                <a:lnTo>
                  <a:pt x="14456807" y="10409559"/>
                </a:lnTo>
                <a:lnTo>
                  <a:pt x="0" y="1040955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20291" y="19899725"/>
            <a:ext cx="14456807" cy="10166756"/>
          </a:xfrm>
          <a:custGeom>
            <a:avLst/>
            <a:gdLst/>
            <a:ahLst/>
            <a:cxnLst/>
            <a:rect r="r" b="b" t="t" l="l"/>
            <a:pathLst>
              <a:path h="10166756" w="14456807">
                <a:moveTo>
                  <a:pt x="0" y="0"/>
                </a:moveTo>
                <a:lnTo>
                  <a:pt x="14456807" y="0"/>
                </a:lnTo>
                <a:lnTo>
                  <a:pt x="14456807" y="10166757"/>
                </a:lnTo>
                <a:lnTo>
                  <a:pt x="0" y="1016675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2527254" y="36801438"/>
            <a:ext cx="5609092" cy="5642286"/>
            <a:chOff x="0" y="0"/>
            <a:chExt cx="7478789" cy="75230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78776" cy="7523099"/>
            </a:xfrm>
            <a:custGeom>
              <a:avLst/>
              <a:gdLst/>
              <a:ahLst/>
              <a:cxnLst/>
              <a:rect r="r" b="b" t="t" l="l"/>
              <a:pathLst>
                <a:path h="7523099" w="7478776">
                  <a:moveTo>
                    <a:pt x="0" y="0"/>
                  </a:moveTo>
                  <a:lnTo>
                    <a:pt x="7478776" y="0"/>
                  </a:lnTo>
                  <a:lnTo>
                    <a:pt x="7478776" y="7523099"/>
                  </a:lnTo>
                  <a:lnTo>
                    <a:pt x="0" y="752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-49" t="0" r="-49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087313" y="4690643"/>
            <a:ext cx="16613743" cy="1744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58"/>
              </a:lnSpc>
            </a:pPr>
            <a:r>
              <a:rPr lang="en-US" b="true" sz="114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PROJETO AXIS DEFENSE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04767" y="6126985"/>
            <a:ext cx="24286093" cy="195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1"/>
              </a:lnSpc>
            </a:pP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Kauê Alves</a:t>
            </a: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Nicolas Coimbra, Henrique matias, Erick Osawa, Joel Rick</a:t>
            </a:r>
          </a:p>
          <a:p>
            <a:pPr algn="ctr">
              <a:lnSpc>
                <a:spcPts val="8001"/>
              </a:lnSpc>
            </a:pP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Orientadores: </a:t>
            </a:r>
            <a:r>
              <a:rPr lang="en-US" b="true" sz="476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Victor Bruno Alexander Rosetti de Quiroz</a:t>
            </a: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b="true" sz="476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Gilles Pedroza Leite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687448" y="23110708"/>
            <a:ext cx="5764887" cy="51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7"/>
              </a:lnSpc>
            </a:pPr>
            <a:r>
              <a:rPr lang="en-US" sz="34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Logo</a:t>
            </a:r>
            <a:r>
              <a:rPr lang="en-US" sz="34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Autoria Própria (2026)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61444" y="30818842"/>
            <a:ext cx="10186387" cy="6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1"/>
              </a:lnSpc>
            </a:pP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TECNOLOGIAS UTILIZADAS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08352" y="9848574"/>
            <a:ext cx="10186387" cy="6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1"/>
              </a:lnSpc>
            </a:pP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44302" y="9848574"/>
            <a:ext cx="10186387" cy="6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1"/>
              </a:lnSpc>
            </a:pP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PROBLEMA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58250" y="20293317"/>
            <a:ext cx="10186387" cy="6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1"/>
              </a:lnSpc>
            </a:pPr>
            <a:r>
              <a:rPr lang="en-US" b="true" sz="47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PROPOSTA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869898" y="31567450"/>
            <a:ext cx="11399996" cy="356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0536" indent="-370268" lvl="1">
              <a:lnSpc>
                <a:spcPts val="5762"/>
              </a:lnSpc>
              <a:buAutoNum type="arabicPeriod" startAt="1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Hunicke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LeBlanc, Zubek (2004) — MDA: A Formal Approach to Game Design and Game Research.</a:t>
            </a:r>
          </a:p>
          <a:p>
            <a:pPr algn="just" marL="740536" indent="-370268" lvl="1">
              <a:lnSpc>
                <a:spcPts val="5762"/>
              </a:lnSpc>
              <a:buAutoNum type="arabicPeriod" startAt="1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Csikszentmihalyi (1990) — Flow: The Psychology of Optimal Experience.</a:t>
            </a:r>
          </a:p>
          <a:p>
            <a:pPr algn="just">
              <a:lnSpc>
                <a:spcPts val="5762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595876" y="31567450"/>
            <a:ext cx="12562799" cy="356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0536" indent="-370268" lvl="1">
              <a:lnSpc>
                <a:spcPts val="5762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Unity 6 (URP), C#</a:t>
            </a:r>
          </a:p>
          <a:p>
            <a:pPr algn="just" marL="740536" indent="-370268" lvl="1">
              <a:lnSpc>
                <a:spcPts val="5762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TextMeshPro (UI)</a:t>
            </a:r>
          </a:p>
          <a:p>
            <a:pPr algn="just" marL="740536" indent="-370268" lvl="1">
              <a:lnSpc>
                <a:spcPts val="5762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Git/GitHub</a:t>
            </a:r>
          </a:p>
          <a:p>
            <a:pPr algn="just" marL="740536" indent="-370268" lvl="1">
              <a:lnSpc>
                <a:spcPts val="5762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PlayerPrefs e/ou arquivo texto para persistência local</a:t>
            </a:r>
          </a:p>
          <a:p>
            <a:pPr algn="just">
              <a:lnSpc>
                <a:spcPts val="5762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595866" y="10596782"/>
            <a:ext cx="12562799" cy="536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6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projeto exige o desenvolvimento de um jogo digital autoral para desktop (Windows), offline, em Unity (3D) com programação em C#. A entrega deve conter fluxo completo (tela inicial, sessão jogável e encerramento), mecânicas consistentes, feedbacks claros e um sistema mensurável de progresso (pontuação/ranking), além de registro local de resultados em arquivo texto e documentação do processo. </a:t>
            </a:r>
          </a:p>
          <a:p>
            <a:pPr algn="just">
              <a:lnSpc>
                <a:spcPts val="2351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570063" y="20973307"/>
            <a:ext cx="12562799" cy="536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6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equipe escolheu desenvolver um casual game 3D com mecânica simples e objetiva. O jogador atua como operador de defesa/supervisão, tomando decisões rápidas com interface clara. O loop de jogo consiste em observar, alternar visão/ângulo quando necessário, executar a ação principal (ex.: disparo/seleção) e receber feedback imediato, buscando pontuação e progressão por desempenho.</a:t>
            </a:r>
          </a:p>
          <a:p>
            <a:pPr algn="just">
              <a:lnSpc>
                <a:spcPts val="2351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36931" y="39443711"/>
            <a:ext cx="28242597" cy="206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4"/>
              </a:lnSpc>
            </a:pPr>
            <a:r>
              <a:rPr lang="en-US" b="true" sz="49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IV SEMANA FECAP DE TECNOLOGIA - 2026</a:t>
            </a:r>
          </a:p>
          <a:p>
            <a:pPr algn="ctr">
              <a:lnSpc>
                <a:spcPts val="8324"/>
              </a:lnSpc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617819" y="10728227"/>
            <a:ext cx="11904154" cy="428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6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AXIS DEFENSE está jogável do início ao fim em desktop, com fluxo completo: o jogador inicia a partida, enfrenta inimigos durante o período de reparo e finaliza em Vitória ou Game Over. A vitória acontece quando o tempo de reparo chega a zero; a derrota ocorre quando o escudo/vida do jogador chega a 0.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14840" y="24043415"/>
            <a:ext cx="11652018" cy="501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6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Durante a partida, o HUD exibe tempo, escudo e pontuação. A pontuação usa combo por tempo e multiplicador (x2, x3, …), que expira se o jogador ficar sem eliminar inimigos.</a:t>
            </a:r>
          </a:p>
          <a:p>
            <a:pPr algn="just">
              <a:lnSpc>
                <a:spcPts val="5762"/>
              </a:lnSpc>
            </a:pP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Ao final, a tela de resultado mostra a pontuação final, permite inserir o nome e salva em um ranking local para rejogar e comparar marcas offline.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DAHIt6xDvCU</dc:identifier>
  <dcterms:modified xsi:type="dcterms:W3CDTF">2011-08-01T06:04:30Z</dcterms:modified>
  <cp:revision>1</cp:revision>
  <dc:title>MODELO_BANNER_FECAP_2026_1.pptx</dc:title>
</cp:coreProperties>
</file>